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MobileNetV3-Small 5-fold 결과. 미검율 0%는 검증셋 기준이며 홀드아웃은 미사용.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SOP §12 단계별 게이트. STOP-GATE 2는 홀드아웃 전용이며 아직 사용하지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홀드아웃 65장은 P5 최종 판정 전용이며 아직 한 번도 사용하지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수치는 val fold 기준이며 τ도 같은 val에서 정해 낙관적으로 편향돼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 섭동은 실제 라인 변동의 대리다. 섭동 모형이 현장과 다르면 결론도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CableInspect-AD는 대리 데이터·표본 부족·임계값 이식성 세 한계를 동시에 해소할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574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 cable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 제품 양/불 판정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경량 모델 연구 흐름도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348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SOP-MVTEC-CABLE-001  ·  2026-09-22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0.00 %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미검율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ms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지연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5138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정확도는 포화 — 남은 과제는 환경 변동 강건성과 임계값 이식성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연구 흐름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단계 · 각 단계는 게이트 통과 후에만 다음으로 진행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8620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88620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61772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복원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3484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 33 → 92장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4380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4380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9092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3684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43684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16836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준비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98548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151 · 5-fold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9444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09444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4156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8748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98748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71900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기준선 학습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753612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미검율 0.00 %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4508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64508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89220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3812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353812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26964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해상도 ablation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08676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640/384/256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9572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9572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44284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8876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008876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82028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강건성 벤치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063740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색·반사 붕괴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4636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74636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499348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63940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663940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737092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처방 A/B/C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8718804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대기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29700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29700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54412" y="2633472"/>
            <a:ext cx="155448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19004" y="1828800"/>
            <a:ext cx="1481328" cy="1783080"/>
          </a:xfrm>
          <a:prstGeom prst="roundRect">
            <a:avLst>
              <a:gd name="adj" fmla="val 4938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0319004" y="1975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P4~6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392156" y="228600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양자화·배포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10373868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타깃 HW 대기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84764" y="324612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6B7C85"/>
          </a:solidFill>
          <a:ln w="12700">
            <a:solidFill>
              <a:srgbClr val="6B7C8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84764" y="32461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437083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4672" y="4315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STOP-GATE 1  데이터 전량 복원 · 무결성 통과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217920" y="4370832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73952" y="4315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게이트  라벨 육안 검증 24장 통과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48640" y="477316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4672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게이트  최소 1개 트랙 AUROC ≥ 0.90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17920" y="4773168"/>
            <a:ext cx="146304" cy="146304"/>
          </a:xfrm>
          <a:prstGeom prst="ellipse">
            <a:avLst/>
          </a:prstGeom>
          <a:solidFill>
            <a:srgbClr val="6B7C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73952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STOP-GATE 2  홀드아웃 최종 판정 (미사용 — P5 전용)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8640" y="534924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2B3A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8680" y="5468112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미확보로 Track A(YOLO 검출)·Track B(비지도 이상탐지)는 연기 — Track C(경량 분류)를 선행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68680" y="5779008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“어느 태스크가 유리한가”(연구질문 1)는 현재 답할 수 없다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준비 흐름 (P1)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단계가 스크립트로 재실행 가능 — src/data/run_p1.ps1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7180" y="1600200"/>
            <a:ext cx="2157984" cy="2395728"/>
          </a:xfrm>
          <a:prstGeom prst="roundRect">
            <a:avLst>
              <a:gd name="adj" fmla="val 3390"/>
            </a:avLst>
          </a:prstGeom>
          <a:solidFill>
            <a:srgbClr val="2B3A42"/>
          </a:solidFill>
          <a:ln w="9525">
            <a:solidFill>
              <a:srgbClr val="2B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5196" y="17647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원본 데이터셋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5196" y="2221992"/>
            <a:ext cx="193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 AD cable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train/good 224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150 (불량 92)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92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4308" y="2697480"/>
            <a:ext cx="182880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6332" y="1600200"/>
            <a:ext cx="2157984" cy="2395728"/>
          </a:xfrm>
          <a:prstGeom prst="roundRect">
            <a:avLst>
              <a:gd name="adj" fmla="val 3390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4348" y="17647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무결성 검증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4348" y="2221992"/>
            <a:ext cx="193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해상도·채널·이진 마스크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정합 양방향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수량 대조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문제 0건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3460" y="2697480"/>
            <a:ext cx="182880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5484" y="1600200"/>
            <a:ext cx="2157984" cy="2395728"/>
          </a:xfrm>
          <a:prstGeom prst="roundRect">
            <a:avLst>
              <a:gd name="adj" fmla="val 3390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3500" y="17647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라벨 변환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43500" y="2221992"/>
            <a:ext cx="193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마스크 → 연결요소 → bbox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임계 209 px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multi(8종) + binary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bbox 151개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82612" y="2697480"/>
            <a:ext cx="182880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4636" y="1600200"/>
            <a:ext cx="2157984" cy="2395728"/>
          </a:xfrm>
          <a:prstGeom prst="roundRect">
            <a:avLst>
              <a:gd name="adj" fmla="val 3390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02652" y="17647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분할 확정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02652" y="2221992"/>
            <a:ext cx="193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A: 원본 유지(비지도)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홀드아웃 65장 (판정 전용)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클래스 층화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누수 0건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41764" y="2697480"/>
            <a:ext cx="182880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3788" y="1600200"/>
            <a:ext cx="2157984" cy="2395728"/>
          </a:xfrm>
          <a:prstGeom prst="roundRect">
            <a:avLst>
              <a:gd name="adj" fmla="val 3390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61804" y="17647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스모크 체크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61804" y="2221992"/>
            <a:ext cx="1938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범위·클래스 ID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∩ val = ∅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로딩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육안 검증에서 확인한 것 — 이후 설계에 직접 반영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274320" cy="27432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4928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cable_swap 마스크가 케이블 단면 전체를 덮음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5431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국소 텍스처 결함 아님 → 구조적 결함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4983480"/>
            <a:ext cx="274320" cy="27432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9768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681728" y="4928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bent_wire·cut_outer 마스크가 가늘고 휜 곡선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681728" y="5431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mAP@IoU가 검출 품질을 과대평가 → PRO 병행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4983480"/>
            <a:ext cx="274320" cy="27432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30768" y="4928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combined은 결함 유형이 아니라 메타 라벨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30768" y="5431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8클래스 검출 시 혼동 원인 → binary 병행 준비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· 평가 흐름과 결과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— MobileNetV3-Small, ImageNet 사전학습, 5-fold 교차검증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캐시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PNG 디코딩 병목 제거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05456" y="2295144"/>
            <a:ext cx="201168" cy="182880"/>
          </a:xfrm>
          <a:prstGeom prst="down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8716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학습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조기종료 · best = val AUROC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5456" y="3154680"/>
            <a:ext cx="201168" cy="182880"/>
          </a:xfrm>
          <a:prstGeom prst="down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4670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점수 재산출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94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체크포인트로 val 점수 저장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4014216"/>
            <a:ext cx="201168" cy="182880"/>
          </a:xfrm>
          <a:prstGeom prst="down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0624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임계값 τ 결정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과검 5% 하에서 미검 최소화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05456" y="4873752"/>
            <a:ext cx="201168" cy="182880"/>
          </a:xfrm>
          <a:prstGeom prst="down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6577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지표 산출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413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미검·과검·클래스별 분해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162763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해상도별 결과 (5-fold 평균 ± 표준편차)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993392"/>
          <a:ext cx="6492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051560"/>
                <a:gridCol w="11430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미검율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 p50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 ± 0.0012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 ± 0.0006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 ± 0.0011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12064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해상도는 통계적으로 구분되지 않는다 — 차이가 표준편차 이내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12064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/ 0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5120640" y="4645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합산 TP / FN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4645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8클래스 recall 전부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50976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 M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9509760" y="4645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120640" y="5230368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9525">
            <a:solidFill>
              <a:srgbClr val="C845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49240" y="53400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— 임계값 τ가 환경 간 이식되지 않는다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349240" y="563270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점수 중앙값이 fold마다 2e-11 ~ 2e-4로 8자릿수 차이. 배포 시 현장 재보정 필수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강건성 검증 흐름 (Stage 0 → Stage 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MVTec에는 환경 변동이 없다 — 조명 4.5 %, 색바램 0.9 %. 합성 섭동으로 대리 측정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7축 합성 섭동, 실측값의 1~10배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EAF5EF"/>
          </a:solidFill>
          <a:ln w="9525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48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 — 정렬 모듈 불필요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 ±80°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50008" y="23408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377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±10 %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23408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0.9915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±20 %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50008" y="28437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2880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밝기 ±50 %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8437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5352" y="1956816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FBEEEC"/>
          </a:solidFill>
          <a:ln w="9525">
            <a:solidFill>
              <a:srgbClr val="C845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048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붕괴 — 재보정으로도 복구 불가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색바램 30 %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0.8924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황변 30 %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27066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0.9018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정반사 면적 10 %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072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027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정반사는 면적 1 %만으로 0.964 · 10 %면 과검율 100 % (판정기 기능 정지)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050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값싼 처방 3종 (256px 동일 분할·시드)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219456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4517136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45171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증강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" y="4901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비용 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4389120"/>
            <a:ext cx="219456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72384" y="4517136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7238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456432" y="45171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gray+spec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072384" y="4901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시간 추가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4389120"/>
            <a:ext cx="219456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9525">
            <a:solidFill>
              <a:srgbClr val="8FA3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9824" y="4517136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982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833872" y="45171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동시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49824" y="4901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비쌈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26096" y="4773168"/>
            <a:ext cx="365760" cy="201168"/>
          </a:xfrm>
          <a:prstGeom prst="rightArrow">
            <a:avLst/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01584" y="4389120"/>
            <a:ext cx="3538728" cy="960120"/>
          </a:xfrm>
          <a:prstGeom prst="roundRect">
            <a:avLst>
              <a:gd name="adj" fmla="val 6667"/>
            </a:avLst>
          </a:prstGeom>
          <a:solidFill>
            <a:srgbClr val="2B3A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84464" y="449884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등록 판정 기준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284464" y="4773168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붕괴 3축 전부에서 다음을 충족해야 합격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≥ 0.95 · 재보정 미검율 ≤ 5 % · 과검율 &lt; 50 %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742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합격 → 전처리 불필요, A 확정      B·C만 합격 → 전처리 필요      전부 불합격 → Stage 2(DINOv2 증류) 근거 성립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0716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보기 전에 기준을 고정했다 — 사후 합리화 방지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상태와 다음 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 아니라 의사결정이 병목이다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의사결정 대기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82880" cy="182880"/>
          </a:xfrm>
          <a:prstGeom prst="ellipse">
            <a:avLst/>
          </a:prstGeom>
          <a:solidFill>
            <a:srgbClr val="C845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타깃 하드웨어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경로 · 벤치 · 해상도 확정을 모두 막고 있음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182880" cy="1828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택트타임 예산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· 모델 선택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182880" cy="1828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미검 : 과검 비용비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124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정책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182880" cy="1828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출력 형태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425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본선 트랙 확정 (라벨은 둘 다 준비됨)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82880" cy="1828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확보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B 착수 조건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6002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작업 후보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011680"/>
            <a:ext cx="5330952" cy="749808"/>
          </a:xfrm>
          <a:prstGeom prst="roundRect">
            <a:avLst>
              <a:gd name="adj" fmla="val 8537"/>
            </a:avLst>
          </a:prstGeom>
          <a:solidFill>
            <a:srgbClr val="1C272C"/>
          </a:solidFill>
          <a:ln w="9525">
            <a:solidFill>
              <a:srgbClr val="3D4E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231136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112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CableInspect-AD 확보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현장 데이터 · 불량 2,639장(29배)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880360"/>
            <a:ext cx="5330952" cy="749808"/>
          </a:xfrm>
          <a:prstGeom prst="roundRect">
            <a:avLst>
              <a:gd name="adj" fmla="val 8537"/>
            </a:avLst>
          </a:prstGeom>
          <a:solidFill>
            <a:srgbClr val="1C272C"/>
          </a:solidFill>
          <a:ln w="9525">
            <a:solidFill>
              <a:srgbClr val="3D4E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099816"/>
            <a:ext cx="310896" cy="310896"/>
          </a:xfrm>
          <a:prstGeom prst="ellipse">
            <a:avLst/>
          </a:prstGeom>
          <a:solidFill>
            <a:srgbClr val="8FA3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양자화 + ONNX export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264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6.08 → 1.52 MB · 수치 동등성 검증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5330952" cy="749808"/>
          </a:xfrm>
          <a:prstGeom prst="roundRect">
            <a:avLst>
              <a:gd name="adj" fmla="val 8537"/>
            </a:avLst>
          </a:prstGeom>
          <a:solidFill>
            <a:srgbClr val="1C272C"/>
          </a:solidFill>
          <a:ln w="9525">
            <a:solidFill>
              <a:srgbClr val="3D4E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3968496"/>
            <a:ext cx="310896" cy="310896"/>
          </a:xfrm>
          <a:prstGeom prst="ellipse">
            <a:avLst/>
          </a:prstGeom>
          <a:solidFill>
            <a:srgbClr val="8FA3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8496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타깃 하드웨어 벤치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133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스로틀링 포함 §9.3 프로토콜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617720"/>
            <a:ext cx="5330952" cy="749808"/>
          </a:xfrm>
          <a:prstGeom prst="roundRect">
            <a:avLst>
              <a:gd name="adj" fmla="val 8537"/>
            </a:avLst>
          </a:prstGeom>
          <a:solidFill>
            <a:srgbClr val="1C272C"/>
          </a:solidFill>
          <a:ln w="9525">
            <a:solidFill>
              <a:srgbClr val="3D4E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4837176"/>
            <a:ext cx="310896" cy="310896"/>
          </a:xfrm>
          <a:prstGeom prst="ellipse">
            <a:avLst/>
          </a:prstGeom>
          <a:solidFill>
            <a:srgbClr val="8FA3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224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(EfficientAD / LogiCo)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5001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확보 후 · 문헌 비교 가능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홀드아웃 65장은 아직 사용하지 않았다 — 최종 후보 확정 후 P5에서 1회만 사용한다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MVTec cable 양/불 판정 경량 모델 — 연구 흐름도</dc:title>
  <dc:subject>PptxGenJS Presentation</dc:subject>
  <dc:creator>hojun.han</dc:creator>
  <cp:lastModifiedBy>hojun.han</cp:lastModifiedBy>
  <cp:revision>1</cp:revision>
  <dcterms:created xsi:type="dcterms:W3CDTF">2026-09-22T07:24:28Z</dcterms:created>
  <dcterms:modified xsi:type="dcterms:W3CDTF">2026-09-22T07:24:28Z</dcterms:modified>
</cp:coreProperties>
</file>