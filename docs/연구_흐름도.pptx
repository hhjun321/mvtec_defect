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MobileNetV3-Small 5-fold 결과. 미검율 0%는 검증셋 기준이며 홀드아웃은 미사용.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SOP §12 단계별 게이트. STOP-GATE 2는 홀드아웃 전용이며 아직 사용하지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홀드아웃 65장은 P5 최종 판정 전용이며 아직 한 번도 사용하지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수치는 val fold 기준이며 τ도 같은 val에서 정해 낙관적으로 편향돼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합성 섭동은 실제 라인 변동의 대리다. 섭동 모형이 현장과 다르면 결론도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CableInspect-AD는 대리 데이터·표본 부족·임계값 이식성 세 한계를 동시에 해소할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5740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MVTec cable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산업 제품 양/불 판정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경량 모델 연구 흐름도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348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SOP-MVTEC-CABLE-001  ·  2026-09-22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0.00 %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559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미검율 (무섭동)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5074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0.9992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5559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5074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 ms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5559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지연 (단일 스레드)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513892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정확도는 포화 — 남은 과제는 환경 변동 강건성과 임계값 이식성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전체 연구 흐름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단계 · 각 단계는 게이트 통과 후에만 다음으로 진행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88620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88620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1772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복원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43484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불량 33 → 92장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54380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79092" y="2633472"/>
            <a:ext cx="155448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43684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043684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16836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준비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098548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bbox 151 · 5-fold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09444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09444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534156" y="2633472"/>
            <a:ext cx="155448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98748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98748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771900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기준선 학습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753612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미검율 0.00 %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64508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64508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89220" y="2633472"/>
            <a:ext cx="155448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53812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353812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26964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해상도 ablation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408676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640/384/256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719572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19572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44284" y="2633472"/>
            <a:ext cx="155448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08876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008876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082028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강건성 벤치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063740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색·반사 붕괴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74636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74636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499348" y="2633472"/>
            <a:ext cx="155448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63940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663940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737092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처방 A/B/C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8718804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채택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29700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029700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154412" y="2633472"/>
            <a:ext cx="155448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19004" y="1828800"/>
            <a:ext cx="1481328" cy="1783080"/>
          </a:xfrm>
          <a:prstGeom prst="roundRect">
            <a:avLst>
              <a:gd name="adj" fmla="val 4938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10319004" y="19751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P4~6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392156" y="228600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양자화·배포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10373868" y="28163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타깃 HW 대기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684764" y="324612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6B7C85"/>
          </a:solidFill>
          <a:ln w="12700">
            <a:solidFill>
              <a:srgbClr val="6B7C8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684764" y="324612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대기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4370832"/>
            <a:ext cx="146304" cy="14630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04672" y="43159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STOP-GATE 1  데이터 전량 복원 · 무결성 통과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217920" y="4370832"/>
            <a:ext cx="146304" cy="14630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73952" y="43159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게이트  라벨 육안 검증 24장 통과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548640" y="4773168"/>
            <a:ext cx="146304" cy="14630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04672" y="47183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게이트  최소 1개 트랙 AUROC ≥ 0.90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17920" y="4773168"/>
            <a:ext cx="146304" cy="146304"/>
          </a:xfrm>
          <a:prstGeom prst="ellipse">
            <a:avLst/>
          </a:prstGeom>
          <a:solidFill>
            <a:srgbClr val="6B7C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473952" y="47183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STOP-GATE 2  홀드아웃 최종 판정 (미사용 — P5 전용)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5349240"/>
            <a:ext cx="11091672" cy="841248"/>
          </a:xfrm>
          <a:prstGeom prst="roundRect">
            <a:avLst>
              <a:gd name="adj" fmla="val 8696"/>
            </a:avLst>
          </a:prstGeom>
          <a:solidFill>
            <a:srgbClr val="2B3A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8680" y="5468112"/>
            <a:ext cx="10451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미확보로 Track A(YOLO 검출)·Track B(비지도 이상탐지)는 연기 — Track C(경량 분류)를 선행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868680" y="5779008"/>
            <a:ext cx="10451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“어느 태스크가 유리한가”(연구질문 1)는 현재 답할 수 없다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준비 흐름 (P1)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단계가 스크립트로 재실행 가능 — src/data/run_p1.ps1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97180" y="1600200"/>
            <a:ext cx="2157984" cy="2395728"/>
          </a:xfrm>
          <a:prstGeom prst="roundRect">
            <a:avLst>
              <a:gd name="adj" fmla="val 3390"/>
            </a:avLst>
          </a:prstGeom>
          <a:solidFill>
            <a:srgbClr val="2B3A42"/>
          </a:solidFill>
          <a:ln w="9525">
            <a:solidFill>
              <a:srgbClr val="2B3A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5196" y="176479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원본 데이터셋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5196" y="2221992"/>
            <a:ext cx="1938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MVTec AD cable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train/good 224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150 (불량 92)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92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464308" y="2697480"/>
            <a:ext cx="182880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56332" y="1600200"/>
            <a:ext cx="2157984" cy="2395728"/>
          </a:xfrm>
          <a:prstGeom prst="roundRect">
            <a:avLst>
              <a:gd name="adj" fmla="val 3390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84348" y="176479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무결성 검증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4348" y="2221992"/>
            <a:ext cx="1938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해상도·채널·이진 마스크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인덱스 정합 양방향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수량 대조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문제 0건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23460" y="2697480"/>
            <a:ext cx="182880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15484" y="1600200"/>
            <a:ext cx="2157984" cy="2395728"/>
          </a:xfrm>
          <a:prstGeom prst="roundRect">
            <a:avLst>
              <a:gd name="adj" fmla="val 3390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3500" y="176479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라벨 변환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43500" y="2221992"/>
            <a:ext cx="1938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마스크 → 연결요소 → bbox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노이즈 임계 209 px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multi(8종) + binary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bbox 151개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82612" y="2697480"/>
            <a:ext cx="182880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4636" y="1600200"/>
            <a:ext cx="2157984" cy="2395728"/>
          </a:xfrm>
          <a:prstGeom prst="roundRect">
            <a:avLst>
              <a:gd name="adj" fmla="val 3390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02652" y="176479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분할 확정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02652" y="2221992"/>
            <a:ext cx="1938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분할 A: 원본 유지(비지도)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홀드아웃 65장 (판정 전용)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클래스 층화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누수 0건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541764" y="2697480"/>
            <a:ext cx="182880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33788" y="1600200"/>
            <a:ext cx="2157984" cy="2395728"/>
          </a:xfrm>
          <a:prstGeom prst="roundRect">
            <a:avLst>
              <a:gd name="adj" fmla="val 3390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61804" y="176479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 스모크 체크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61804" y="2221992"/>
            <a:ext cx="1938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 범위·클래스 ID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∩ val = ∅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로딩</a:t>
            </a:r>
            <a:endParaRPr lang="en-US" sz="10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PASS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26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육안 검증에서 확인한 것 — 이후 설계에 직접 반영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983480"/>
            <a:ext cx="274320" cy="27432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" y="49286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cable_swap 마스크가 케이블 단면 전체를 덮음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32688" y="543153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국소 텍스처 결함 아님 → 구조적 결함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0" y="4983480"/>
            <a:ext cx="274320" cy="27432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97680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681728" y="49286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bent_wire·cut_outer 마스크가 가늘고 휜 곡선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681728" y="543153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mAP@IoU가 검출 품질을 과대평가 → PRO 병행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46720" y="4983480"/>
            <a:ext cx="274320" cy="27432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430768" y="49286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combined은 결함 유형이 아니라 메타 라벨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543153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8클래스 검출 시 혼동 원인 → binary 병행 준비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학습 · 평가 흐름과 결과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 — MobileNetV3-Small, ImageNet 사전학습, 5-fold 교차검증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이미지 캐시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751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1024 PNG 디코딩 병목 제거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05456" y="2295144"/>
            <a:ext cx="201168" cy="182880"/>
          </a:xfrm>
          <a:prstGeom prst="down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87168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 학습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834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조기종료 · best = val AUROC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05456" y="3154680"/>
            <a:ext cx="201168" cy="182880"/>
          </a:xfrm>
          <a:prstGeom prst="down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346704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4198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점수 재산출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694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체크포인트로 val 점수 저장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05456" y="4014216"/>
            <a:ext cx="201168" cy="182880"/>
          </a:xfrm>
          <a:prstGeom prst="down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206240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279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임계값 τ 결정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553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과검 5% 하에서 미검 최소화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05456" y="4873752"/>
            <a:ext cx="201168" cy="182880"/>
          </a:xfrm>
          <a:prstGeom prst="down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065776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지표 산출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4132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미검·과검·클래스별 분해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162763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입력 해상도별 결과 (5-fold 평균 ± 표준편차)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993392"/>
          <a:ext cx="6492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051560"/>
                <a:gridCol w="11430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미검율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GFLOPs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지연 p50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4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0.9994 ± 0.0012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0.9997 ± 0.0006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54.6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0.9992 ± 0.0011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26.9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12064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해상도는 통계적으로 구분되지 않는다 — 차이가 표준편차 이내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 / 0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46451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합산 TP / FN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46451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8클래스 recall 전부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50976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 M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9509760" y="46451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120640" y="5230368"/>
            <a:ext cx="6492240" cy="91440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 w="9525">
            <a:solidFill>
              <a:srgbClr val="C8453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349240" y="53400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— 임계값 τ가 환경 간 이식되지 않는다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563270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 점수 중앙값이 fold마다 2e-11 ~ 2e-4로 8자릿수 차이. 배포 시 현장 재보정 필수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강건성 검증 흐름 (Stage 0 → Stage 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MVTec에는 환경 변동이 없다 — 조명 4.5 %, 색바램 0.9 %. 합성 섭동으로 대리 측정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7축 합성 섭동, 실측값의 1~10배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6816"/>
            <a:ext cx="5394960" cy="1572768"/>
          </a:xfrm>
          <a:prstGeom prst="roundRect">
            <a:avLst>
              <a:gd name="adj" fmla="val 4651"/>
            </a:avLst>
          </a:prstGeom>
          <a:solidFill>
            <a:srgbClr val="EAF5EF"/>
          </a:solidFill>
          <a:ln w="9525">
            <a:solidFill>
              <a:srgbClr val="2E9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0482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강건 — 정렬 모듈 불필요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 ±80°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50008" y="234086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0.9973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3774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±10 %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956048" y="234086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0.9915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8803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스케일 ±20 %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350008" y="284378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28803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밝기 ±50 %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956048" y="284378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0.9903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5352" y="1956816"/>
            <a:ext cx="5394960" cy="1572768"/>
          </a:xfrm>
          <a:prstGeom prst="roundRect">
            <a:avLst>
              <a:gd name="adj" fmla="val 4651"/>
            </a:avLst>
          </a:prstGeom>
          <a:solidFill>
            <a:srgbClr val="FBEEEC"/>
          </a:solidFill>
          <a:ln w="9525">
            <a:solidFill>
              <a:srgbClr val="C845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20482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붕괴 — 재보정으로도 복구 불가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색바램 30 %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23408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0.8924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7432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황변 30 %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270662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0.9018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108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정반사 면적 10 %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418320" y="307238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0.8273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6027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정반사는 면적 1 %만으로 0.964 · 10 %면 과검율 100 % (판정기 기능 정지)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0050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1 — 값싼 처방 3종 (256px 동일 분할·시드)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2194560" cy="960120"/>
          </a:xfrm>
          <a:prstGeom prst="roundRect">
            <a:avLst>
              <a:gd name="adj" fmla="val 6667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944" y="4517136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5171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증강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94944" y="4901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비용 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26080" y="4389120"/>
            <a:ext cx="2194560" cy="960120"/>
          </a:xfrm>
          <a:prstGeom prst="roundRect">
            <a:avLst>
              <a:gd name="adj" fmla="val 6667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72384" y="4517136"/>
            <a:ext cx="310896" cy="310896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72384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456432" y="45171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전처리 gray+spec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4901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전처리 시간 추가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303520" y="4389120"/>
            <a:ext cx="2194560" cy="960120"/>
          </a:xfrm>
          <a:prstGeom prst="roundRect">
            <a:avLst>
              <a:gd name="adj" fmla="val 6667"/>
            </a:avLst>
          </a:prstGeom>
          <a:solidFill>
            <a:srgbClr val="F4F6F7"/>
          </a:solidFill>
          <a:ln w="9525">
            <a:solidFill>
              <a:srgbClr val="8FA3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49824" y="4517136"/>
            <a:ext cx="310896" cy="310896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49824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833872" y="45171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동시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49824" y="4901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비쌈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626096" y="4773168"/>
            <a:ext cx="365760" cy="201168"/>
          </a:xfrm>
          <a:prstGeom prst="rightArrow">
            <a:avLst/>
          </a:prstGeom>
          <a:solidFill>
            <a:srgbClr val="8FA3AD"/>
          </a:solidFill>
          <a:ln w="12700">
            <a:solidFill>
              <a:srgbClr val="8FA3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01584" y="4389120"/>
            <a:ext cx="3538728" cy="960120"/>
          </a:xfrm>
          <a:prstGeom prst="roundRect">
            <a:avLst>
              <a:gd name="adj" fmla="val 6667"/>
            </a:avLst>
          </a:prstGeom>
          <a:solidFill>
            <a:srgbClr val="2B3A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84464" y="449884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등록 판정 기준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4773168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붕괴 3축 전부에서 다음을 충족해야 합격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 ≥ 0.95 · 재보정 미검율 ≤ 5 % · 과검율 &lt; 50 %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742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— 사전 등록 기준으로는 전원 불합격(정반사 축).  색 2축은 C가 완전 해결 → C 채택, 정반사는 독립 과제로 분리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0716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색바램 0.9974 · 황변 0.9977 · 정반사 0.9228 (미해결)   |   무섭동 0.9980, 단일 스레드 18.75 ms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현재 상태와 다음 단계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기술이 아니라 의사결정이 병목이다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의사결정 대기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182880" cy="182880"/>
          </a:xfrm>
          <a:prstGeom prst="ellipse">
            <a:avLst/>
          </a:prstGeom>
          <a:solidFill>
            <a:srgbClr val="C845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타깃 하드웨어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경로 · 벤치 · 정반사 대응 방식을 모두 막고 있음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182880" cy="18288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7249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택트타임 예산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해상도 · 모델 선택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182880" cy="18288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미검 : 과검 비용비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7124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임계값 정책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224528"/>
            <a:ext cx="182880" cy="18288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151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출력 형태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256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본선 트랙 확정 (라벨은 둘 다 준비됨)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182880" cy="182880"/>
          </a:xfrm>
          <a:prstGeom prst="ellipse">
            <a:avLst/>
          </a:prstGeom>
          <a:solidFill>
            <a:srgbClr val="D99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864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확보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B 착수 조건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160020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작업 후보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2011680"/>
            <a:ext cx="5330952" cy="749808"/>
          </a:xfrm>
          <a:prstGeom prst="roundRect">
            <a:avLst>
              <a:gd name="adj" fmla="val 8537"/>
            </a:avLst>
          </a:prstGeom>
          <a:solidFill>
            <a:srgbClr val="1C272C"/>
          </a:solidFill>
          <a:ln w="9525">
            <a:solidFill>
              <a:srgbClr val="3D4E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2231136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2112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정반사 대응 (미해결)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3957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조명·편광 필터 우선 · 안 되면 Stage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09360" y="2880360"/>
            <a:ext cx="5330952" cy="749808"/>
          </a:xfrm>
          <a:prstGeom prst="roundRect">
            <a:avLst>
              <a:gd name="adj" fmla="val 8537"/>
            </a:avLst>
          </a:prstGeom>
          <a:solidFill>
            <a:srgbClr val="1C272C"/>
          </a:solidFill>
          <a:ln w="9525">
            <a:solidFill>
              <a:srgbClr val="3D4E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3099816"/>
            <a:ext cx="310896" cy="310896"/>
          </a:xfrm>
          <a:prstGeom prst="ellipse">
            <a:avLst/>
          </a:prstGeom>
          <a:solidFill>
            <a:srgbClr val="8FA3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3099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29809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CableInspect-AD 확보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32644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실측 현장 데이터 · 불량 2,639장(29배)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09360" y="3749040"/>
            <a:ext cx="5330952" cy="749808"/>
          </a:xfrm>
          <a:prstGeom prst="roundRect">
            <a:avLst>
              <a:gd name="adj" fmla="val 8537"/>
            </a:avLst>
          </a:prstGeom>
          <a:solidFill>
            <a:srgbClr val="1C272C"/>
          </a:solidFill>
          <a:ln w="9525">
            <a:solidFill>
              <a:srgbClr val="3D4E5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92240" y="3968496"/>
            <a:ext cx="310896" cy="310896"/>
          </a:xfrm>
          <a:prstGeom prst="ellipse">
            <a:avLst/>
          </a:prstGeom>
          <a:solidFill>
            <a:srgbClr val="8FA3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9224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38496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양자화 + ONNX export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903720" y="4133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6.08 → 1.52 MB · 수치 동등성 검증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09360" y="4617720"/>
            <a:ext cx="5330952" cy="749808"/>
          </a:xfrm>
          <a:prstGeom prst="roundRect">
            <a:avLst>
              <a:gd name="adj" fmla="val 8537"/>
            </a:avLst>
          </a:prstGeom>
          <a:solidFill>
            <a:srgbClr val="1C272C"/>
          </a:solidFill>
          <a:ln w="9525">
            <a:solidFill>
              <a:srgbClr val="3D4E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4837176"/>
            <a:ext cx="310896" cy="310896"/>
          </a:xfrm>
          <a:prstGeom prst="ellipse">
            <a:avLst/>
          </a:prstGeom>
          <a:solidFill>
            <a:srgbClr val="8FA3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47183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타깃 하드웨어 벤치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5001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 스로틀링 포함 §9.3 프로토콜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989320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홀드아웃 65장은 아직 사용하지 않았다 — 최종 후보 확정 후 P5에서 1회만 사용한다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MVTec cable 양/불 판정 경량 모델 — 연구 흐름도</dc:title>
  <dc:subject>PptxGenJS Presentation</dc:subject>
  <dc:creator>hojun.han</dc:creator>
  <cp:lastModifiedBy>hojun.han</cp:lastModifiedBy>
  <cp:revision>1</cp:revision>
  <dcterms:created xsi:type="dcterms:W3CDTF">2026-09-22T08:19:10Z</dcterms:created>
  <dcterms:modified xsi:type="dcterms:W3CDTF">2026-09-22T08:19:10Z</dcterms:modified>
</cp:coreProperties>
</file>